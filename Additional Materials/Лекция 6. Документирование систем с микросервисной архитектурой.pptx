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345" r:id="rId4"/>
    <p:sldId id="428" r:id="rId5"/>
    <p:sldId id="346" r:id="rId6"/>
    <p:sldId id="392" r:id="rId7"/>
    <p:sldId id="410" r:id="rId8"/>
    <p:sldId id="411" r:id="rId9"/>
    <p:sldId id="412" r:id="rId10"/>
    <p:sldId id="413" r:id="rId11"/>
    <p:sldId id="429" r:id="rId12"/>
    <p:sldId id="430" r:id="rId13"/>
    <p:sldId id="431" r:id="rId14"/>
    <p:sldId id="393" r:id="rId15"/>
    <p:sldId id="394" r:id="rId16"/>
    <p:sldId id="395" r:id="rId17"/>
    <p:sldId id="414" r:id="rId18"/>
    <p:sldId id="415" r:id="rId19"/>
    <p:sldId id="432" r:id="rId20"/>
    <p:sldId id="433" r:id="rId21"/>
    <p:sldId id="434" r:id="rId22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90" y="-18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AE325A-A8B9-4665-96AC-7561410DD84C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6CD4C-939D-4C41-B850-59CBF2E8A74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692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42288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2267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вопрос, который встает перед архитектором: где хранить код? Один гигантский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всех сервисов или отдельный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каждого?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вопрос, который встает перед архитектором: где хранить код? Один гигантский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всех сервисов или отдельный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каждого?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вопрос, который встает перед архитектором: где хранить код? Один гигантский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всех сервисов или отдельный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каждого?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вопрос, который встает перед архитектором: где хранить код? Один гигантский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всех сервисов или отдельный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каждого?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вопрос, который встает перед архитектором: где хранить код? Один гигантский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всех сервисов или отдельный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каждого?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вопрос, который встает перед архитектором: где хранить код? Один гигантский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всех сервисов или отдельный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каждого?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вопрос, который встает перед архитектором: где хранить код? Один гигантский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всех сервисов или отдельный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каждого?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вопрос, который встает перед архитектором: где хранить код? Один гигантский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всех сервисов или отдельный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каждого?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вопрос, который встает перед архитектором: где хранить код? Один гигантский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всех сервисов или отдельный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каждого?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Первый вопрос, который встает перед архитектором: где хранить код? Один гигантский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всех сервисов или отдельный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репозиторий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для </a:t>
            </a:r>
            <a:r>
              <a:rPr lang="ru-RU" sz="1200" b="0" i="0" kern="120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каждого?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56CD4C-939D-4C41-B850-59CBF2E8A740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4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1520" y="915566"/>
            <a:ext cx="7632848" cy="1102519"/>
          </a:xfrm>
        </p:spPr>
        <p:txBody>
          <a:bodyPr>
            <a:noAutofit/>
          </a:bodyPr>
          <a:lstStyle/>
          <a:p>
            <a:pPr algn="l"/>
            <a:r>
              <a:rPr lang="ru-RU" sz="2800" b="1" dirty="0" smtClean="0">
                <a:latin typeface="Verdana" pitchFamily="34" charset="0"/>
                <a:ea typeface="Verdana" pitchFamily="34" charset="0"/>
              </a:rPr>
              <a:t>Документирование </a:t>
            </a:r>
            <a:r>
              <a:rPr lang="ru-RU" sz="2800" b="1" dirty="0">
                <a:latin typeface="Verdana" pitchFamily="34" charset="0"/>
                <a:ea typeface="Verdana" pitchFamily="34" charset="0"/>
              </a:rPr>
              <a:t>систем с </a:t>
            </a:r>
            <a:r>
              <a:rPr lang="ru-RU" sz="2800" b="1" dirty="0" err="1">
                <a:latin typeface="Verdana" pitchFamily="34" charset="0"/>
                <a:ea typeface="Verdana" pitchFamily="34" charset="0"/>
              </a:rPr>
              <a:t>микросервисной</a:t>
            </a:r>
            <a:r>
              <a:rPr lang="ru-RU" sz="2800" b="1" dirty="0">
                <a:latin typeface="Verdana" pitchFamily="34" charset="0"/>
                <a:ea typeface="Verdana" pitchFamily="34" charset="0"/>
              </a:rPr>
              <a:t> архитектурой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7504" y="3579862"/>
            <a:ext cx="892899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Роль </a:t>
            </a:r>
            <a:r>
              <a:rPr lang="ru-RU" sz="1400" dirty="0"/>
              <a:t>документации в </a:t>
            </a:r>
            <a:r>
              <a:rPr lang="ru-RU" sz="1400" dirty="0" smtClean="0"/>
              <a:t>МСА; Сценарии </a:t>
            </a:r>
            <a:r>
              <a:rPr lang="ru-RU" sz="1400" dirty="0"/>
              <a:t>формирования </a:t>
            </a:r>
            <a:r>
              <a:rPr lang="ru-RU" sz="1400" dirty="0" smtClean="0"/>
              <a:t>документации; Документирование разработки; Документирование развёртывания; Документирование эксплуатации; Инструменты </a:t>
            </a:r>
            <a:r>
              <a:rPr lang="ru-RU" sz="1400" dirty="0"/>
              <a:t>и </a:t>
            </a:r>
            <a:r>
              <a:rPr lang="ru-RU" sz="1400" dirty="0" smtClean="0"/>
              <a:t>стандарты; Лучшие </a:t>
            </a:r>
            <a:r>
              <a:rPr lang="ru-RU" sz="1400" dirty="0"/>
              <a:t>практики и </a:t>
            </a:r>
            <a:r>
              <a:rPr lang="ru-RU" sz="1400" dirty="0" err="1" smtClean="0"/>
              <a:t>антипаттерны</a:t>
            </a:r>
            <a:r>
              <a:rPr lang="ru-RU" sz="1400" dirty="0" smtClean="0"/>
              <a:t>; 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663997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39552" y="1419622"/>
            <a:ext cx="8069739" cy="1102519"/>
          </a:xfrm>
        </p:spPr>
        <p:txBody>
          <a:bodyPr>
            <a:noAutofit/>
          </a:bodyPr>
          <a:lstStyle/>
          <a:p>
            <a:pPr algn="l"/>
            <a:r>
              <a:rPr lang="ru-RU" sz="3200" b="1" dirty="0" smtClean="0"/>
              <a:t>Роль документации </a:t>
            </a:r>
            <a:r>
              <a:rPr lang="ru-RU" sz="3200" b="1" dirty="0"/>
              <a:t>в МСА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2444499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8609291" cy="110251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latin typeface="Verdana" pitchFamily="34" charset="0"/>
                <a:ea typeface="Verdana" pitchFamily="34" charset="0"/>
              </a:rPr>
              <a:t> Почему документация в МСА критически важна</a:t>
            </a:r>
            <a:endParaRPr lang="ru-RU" sz="2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5816" y="1275606"/>
            <a:ext cx="87849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В </a:t>
            </a:r>
            <a:r>
              <a:rPr lang="ru-RU" b="1" dirty="0"/>
              <a:t>монолитной</a:t>
            </a:r>
            <a:r>
              <a:rPr lang="ru-RU" dirty="0"/>
              <a:t> архитектуре вся </a:t>
            </a:r>
            <a:r>
              <a:rPr lang="ru-RU" b="1" dirty="0"/>
              <a:t>логика системы </a:t>
            </a:r>
            <a:r>
              <a:rPr lang="ru-RU" dirty="0"/>
              <a:t>сосредоточена </a:t>
            </a:r>
            <a:r>
              <a:rPr lang="ru-RU" b="1" dirty="0"/>
              <a:t>в единой кодовой базе</a:t>
            </a:r>
            <a:r>
              <a:rPr lang="ru-RU" dirty="0"/>
              <a:t>. </a:t>
            </a:r>
            <a:endParaRPr lang="ru-RU" dirty="0" smtClean="0"/>
          </a:p>
          <a:p>
            <a:pPr>
              <a:lnSpc>
                <a:spcPct val="150000"/>
              </a:lnSpc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 smtClean="0"/>
              <a:t>Разработчик</a:t>
            </a:r>
            <a:r>
              <a:rPr lang="ru-RU" dirty="0"/>
              <a:t>, изучая исходный код, </a:t>
            </a:r>
            <a:r>
              <a:rPr lang="ru-RU" b="1" dirty="0"/>
              <a:t>может проследить цепочку вызовов от точки входа до хранилища данных</a:t>
            </a:r>
            <a:r>
              <a:rPr lang="ru-RU" dirty="0"/>
              <a:t>. 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90586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8609291" cy="110251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latin typeface="Verdana" pitchFamily="34" charset="0"/>
                <a:ea typeface="Verdana" pitchFamily="34" charset="0"/>
              </a:rPr>
              <a:t> Почему документация в МСА критически важна</a:t>
            </a:r>
            <a:endParaRPr lang="ru-RU" sz="2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165816" y="915566"/>
            <a:ext cx="878497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 smtClean="0"/>
              <a:t>В </a:t>
            </a:r>
            <a:r>
              <a:rPr lang="ru-RU" dirty="0" err="1"/>
              <a:t>микросервисной</a:t>
            </a:r>
            <a:r>
              <a:rPr lang="ru-RU" dirty="0"/>
              <a:t> архитектуре ситуация принципиально иная: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8141637"/>
              </p:ext>
            </p:extLst>
          </p:nvPr>
        </p:nvGraphicFramePr>
        <p:xfrm>
          <a:off x="186765" y="1535673"/>
          <a:ext cx="8561700" cy="342880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20939"/>
                <a:gridCol w="3312368"/>
                <a:gridCol w="3528393"/>
              </a:tblGrid>
              <a:tr h="238181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Аспект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Монолит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МСА</a:t>
                      </a:r>
                    </a:p>
                  </a:txBody>
                  <a:tcPr marL="59545" marR="59545" marT="29773" marB="29773" anchor="ctr"/>
                </a:tc>
              </a:tr>
              <a:tr h="595452"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Локализация логики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Единая кодовая база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Распределена по десяткам/сотням сервисов</a:t>
                      </a:r>
                    </a:p>
                  </a:txBody>
                  <a:tcPr marL="59545" marR="59545" marT="29773" marB="29773" anchor="ctr"/>
                </a:tc>
              </a:tr>
              <a:tr h="595452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Зависимости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Видны на уровне импорта модулей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Скрыты в сетевых вызовах, контрактах, очередях</a:t>
                      </a:r>
                    </a:p>
                  </a:txBody>
                  <a:tcPr marL="59545" marR="59545" marT="29773" marB="29773" anchor="ctr"/>
                </a:tc>
              </a:tr>
              <a:tr h="595452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Команда разработки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Одна или несколько команд на одном проекте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Отдельная команда (или подкоманда) на каждый сервис</a:t>
                      </a:r>
                    </a:p>
                  </a:txBody>
                  <a:tcPr marL="59545" marR="59545" marT="29773" marB="29773" anchor="ctr"/>
                </a:tc>
              </a:tr>
              <a:tr h="595452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Стек технологий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Как правило, единый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Гетерогенный (разные языки, фреймворки, СУБД)</a:t>
                      </a:r>
                    </a:p>
                  </a:txBody>
                  <a:tcPr marL="59545" marR="59545" marT="29773" marB="29773" anchor="ctr"/>
                </a:tc>
              </a:tr>
              <a:tr h="774087"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Развёртывание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Единый артефакт</a:t>
                      </a:r>
                    </a:p>
                  </a:txBody>
                  <a:tcPr marL="59545" marR="59545" marT="29773" marB="29773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Множество независимых артефактов с инфраструктурным окружением</a:t>
                      </a:r>
                    </a:p>
                  </a:txBody>
                  <a:tcPr marL="59545" marR="59545" marT="29773" marB="29773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8611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latin typeface="Verdana" pitchFamily="34" charset="0"/>
                <a:ea typeface="Verdana" pitchFamily="34" charset="0"/>
              </a:rPr>
              <a:t> Почему документация в МСА критически важна</a:t>
            </a:r>
            <a:endParaRPr lang="ru-RU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1520" y="1635646"/>
            <a:ext cx="8784976" cy="21698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dirty="0"/>
              <a:t>В МСА документация становится </a:t>
            </a:r>
            <a:r>
              <a:rPr lang="ru-RU" b="1" dirty="0"/>
              <a:t>не вспомогательным</a:t>
            </a:r>
            <a:r>
              <a:rPr lang="ru-RU" dirty="0"/>
              <a:t>, а </a:t>
            </a:r>
            <a:r>
              <a:rPr lang="ru-RU" b="1" i="1" u="sng" dirty="0"/>
              <a:t>первичным</a:t>
            </a:r>
            <a:r>
              <a:rPr lang="ru-RU" u="sng" dirty="0"/>
              <a:t> средством коммуникации между командами</a:t>
            </a:r>
            <a:r>
              <a:rPr lang="ru-RU" dirty="0"/>
              <a:t>. </a:t>
            </a:r>
            <a:endParaRPr lang="ru-RU" dirty="0" smtClean="0"/>
          </a:p>
          <a:p>
            <a:pPr algn="just">
              <a:lnSpc>
                <a:spcPct val="150000"/>
              </a:lnSpc>
            </a:pPr>
            <a:endParaRPr lang="ru-RU" dirty="0"/>
          </a:p>
          <a:p>
            <a:pPr algn="just">
              <a:lnSpc>
                <a:spcPct val="150000"/>
              </a:lnSpc>
            </a:pPr>
            <a:r>
              <a:rPr lang="ru-RU" dirty="0" smtClean="0"/>
              <a:t>Без </a:t>
            </a:r>
            <a:r>
              <a:rPr lang="ru-RU" dirty="0"/>
              <a:t>неё система быстро превращается в набор «чёрных ящиков», взаимодействие с которыми требует личного присутствия автора.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9459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7504" y="12131"/>
            <a:ext cx="9036496" cy="110251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latin typeface="Verdana" pitchFamily="34" charset="0"/>
                <a:ea typeface="Verdana" pitchFamily="34" charset="0"/>
              </a:rPr>
              <a:t>Цена отсутствия документации</a:t>
            </a:r>
            <a:endParaRPr lang="ru-RU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1707654"/>
            <a:ext cx="87849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/>
              <a:t>Увеличение времени </a:t>
            </a:r>
            <a:r>
              <a:rPr lang="ru-RU" sz="1600" b="1" dirty="0" err="1"/>
              <a:t>онбординга</a:t>
            </a:r>
            <a:r>
              <a:rPr lang="ru-RU" sz="1600" dirty="0"/>
              <a:t> нового разработчика с нескольких дней до нескольких недель;</a:t>
            </a:r>
          </a:p>
          <a:p>
            <a:pPr algn="just"/>
            <a:endParaRPr lang="ru-RU" sz="1600" b="1" dirty="0" smtClean="0"/>
          </a:p>
          <a:p>
            <a:pPr algn="just"/>
            <a:r>
              <a:rPr lang="ru-RU" sz="1600" b="1" dirty="0" smtClean="0"/>
              <a:t>Дублирование </a:t>
            </a:r>
            <a:r>
              <a:rPr lang="ru-RU" sz="1600" b="1" dirty="0"/>
              <a:t>функциональности</a:t>
            </a:r>
            <a:r>
              <a:rPr lang="ru-RU" sz="1600" dirty="0"/>
              <a:t> — команда не знает, что нужный ей сервис уже существует;</a:t>
            </a:r>
          </a:p>
          <a:p>
            <a:pPr algn="just"/>
            <a:endParaRPr lang="ru-RU" sz="1600" b="1" dirty="0" smtClean="0"/>
          </a:p>
          <a:p>
            <a:pPr algn="just"/>
            <a:r>
              <a:rPr lang="ru-RU" sz="1600" b="1" dirty="0" smtClean="0"/>
              <a:t>Нарушение </a:t>
            </a:r>
            <a:r>
              <a:rPr lang="ru-RU" sz="1600" b="1" dirty="0"/>
              <a:t>контрактов</a:t>
            </a:r>
            <a:r>
              <a:rPr lang="ru-RU" sz="1600" dirty="0"/>
              <a:t> — изменение формата сообщений или API без уведомления потребителей</a:t>
            </a:r>
            <a:r>
              <a:rPr lang="ru-RU" sz="1600" dirty="0" smtClean="0"/>
              <a:t>;</a:t>
            </a:r>
          </a:p>
          <a:p>
            <a:pPr algn="just"/>
            <a:endParaRPr lang="ru-RU" sz="1600" dirty="0"/>
          </a:p>
          <a:p>
            <a:pPr algn="just"/>
            <a:r>
              <a:rPr lang="ru-RU" sz="1600" b="1" dirty="0"/>
              <a:t>Увеличение MTTR</a:t>
            </a:r>
            <a:r>
              <a:rPr lang="ru-RU" sz="1600" dirty="0"/>
              <a:t> (</a:t>
            </a:r>
            <a:r>
              <a:rPr lang="ru-RU" sz="1600" dirty="0" err="1"/>
              <a:t>Mean</a:t>
            </a:r>
            <a:r>
              <a:rPr lang="ru-RU" sz="1600" dirty="0"/>
              <a:t> </a:t>
            </a:r>
            <a:r>
              <a:rPr lang="ru-RU" sz="1600" dirty="0" err="1"/>
              <a:t>Time</a:t>
            </a:r>
            <a:r>
              <a:rPr lang="ru-RU" sz="1600" dirty="0"/>
              <a:t> </a:t>
            </a:r>
            <a:r>
              <a:rPr lang="ru-RU" sz="1600" dirty="0" err="1"/>
              <a:t>To</a:t>
            </a:r>
            <a:r>
              <a:rPr lang="ru-RU" sz="1600" dirty="0"/>
              <a:t> </a:t>
            </a:r>
            <a:r>
              <a:rPr lang="ru-RU" sz="1600" dirty="0" err="1"/>
              <a:t>Recovery</a:t>
            </a:r>
            <a:r>
              <a:rPr lang="ru-RU" sz="1600" dirty="0"/>
              <a:t>) при инцидентах — инженеры эксплуатации не понимают, как сервис должен работать в штатном режиме</a:t>
            </a:r>
            <a:r>
              <a:rPr lang="ru-RU" sz="1600" dirty="0" smtClean="0"/>
              <a:t>;</a:t>
            </a:r>
          </a:p>
          <a:p>
            <a:pPr algn="just"/>
            <a:endParaRPr lang="ru-RU" sz="1600" dirty="0"/>
          </a:p>
          <a:p>
            <a:pPr algn="just"/>
            <a:r>
              <a:rPr lang="ru-RU" sz="1600" b="1" dirty="0"/>
              <a:t>Технический долг</a:t>
            </a:r>
            <a:r>
              <a:rPr lang="ru-RU" sz="1600" dirty="0"/>
              <a:t> — отсутствие зафиксированных архитектурных решений приводит к принятию противоречивых решений разными командами.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7504" y="896982"/>
            <a:ext cx="88569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Отсутствие или низкое качество документации в МСА приводит к следующим проблемам</a:t>
            </a:r>
            <a:r>
              <a:rPr lang="ru-RU" sz="1600" dirty="0" smtClean="0"/>
              <a:t>: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195929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latin typeface="Verdana" pitchFamily="34" charset="0"/>
                <a:ea typeface="Verdana" pitchFamily="34" charset="0"/>
              </a:rPr>
              <a:t>Принципы документирования в МСА</a:t>
            </a:r>
            <a:endParaRPr lang="en-US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23528" y="1480592"/>
            <a:ext cx="856895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/>
              <a:t>Документация как код (</a:t>
            </a:r>
            <a:r>
              <a:rPr lang="ru-RU" sz="1600" b="1" dirty="0" err="1"/>
              <a:t>Docs</a:t>
            </a:r>
            <a:r>
              <a:rPr lang="ru-RU" sz="1600" b="1" dirty="0"/>
              <a:t> </a:t>
            </a:r>
            <a:r>
              <a:rPr lang="ru-RU" sz="1600" b="1" dirty="0" err="1"/>
              <a:t>as</a:t>
            </a:r>
            <a:r>
              <a:rPr lang="ru-RU" sz="1600" b="1" dirty="0"/>
              <a:t> </a:t>
            </a:r>
            <a:r>
              <a:rPr lang="ru-RU" sz="1600" b="1" dirty="0" err="1"/>
              <a:t>Code</a:t>
            </a:r>
            <a:r>
              <a:rPr lang="ru-RU" sz="1600" b="1" dirty="0"/>
              <a:t>).</a:t>
            </a:r>
            <a:r>
              <a:rPr lang="ru-RU" sz="1600" dirty="0"/>
              <a:t> Документация хранится в </a:t>
            </a:r>
            <a:r>
              <a:rPr lang="ru-RU" sz="1600" dirty="0" err="1"/>
              <a:t>репозитории</a:t>
            </a:r>
            <a:r>
              <a:rPr lang="ru-RU" sz="1600" dirty="0"/>
              <a:t> рядом с исходным кодом, проходит код-</a:t>
            </a:r>
            <a:r>
              <a:rPr lang="ru-RU" sz="1600" dirty="0" err="1"/>
              <a:t>ревью</a:t>
            </a:r>
            <a:r>
              <a:rPr lang="ru-RU" sz="1600" dirty="0"/>
              <a:t>, </a:t>
            </a:r>
            <a:r>
              <a:rPr lang="ru-RU" sz="1600" dirty="0" err="1"/>
              <a:t>версионируется</a:t>
            </a:r>
            <a:r>
              <a:rPr lang="ru-RU" sz="1600" dirty="0"/>
              <a:t> через </a:t>
            </a:r>
            <a:r>
              <a:rPr lang="ru-RU" sz="1600" dirty="0" err="1"/>
              <a:t>Git</a:t>
            </a:r>
            <a:r>
              <a:rPr lang="ru-RU" sz="1600" dirty="0"/>
              <a:t>.</a:t>
            </a:r>
          </a:p>
          <a:p>
            <a:pPr algn="just"/>
            <a:endParaRPr lang="ru-RU" sz="1600" b="1" dirty="0" smtClean="0"/>
          </a:p>
          <a:p>
            <a:pPr algn="just"/>
            <a:r>
              <a:rPr lang="ru-RU" sz="1600" b="1" dirty="0" smtClean="0"/>
              <a:t>Близость </a:t>
            </a:r>
            <a:r>
              <a:rPr lang="ru-RU" sz="1600" b="1" dirty="0"/>
              <a:t>к источнику истины.</a:t>
            </a:r>
            <a:r>
              <a:rPr lang="ru-RU" sz="1600" dirty="0"/>
              <a:t> Каждый документ создаётся и поддерживается той командой, которая владеет соответствующим сервисом или компонентом.</a:t>
            </a:r>
          </a:p>
          <a:p>
            <a:pPr algn="just"/>
            <a:endParaRPr lang="ru-RU" sz="1600" b="1" dirty="0" smtClean="0"/>
          </a:p>
          <a:p>
            <a:pPr algn="just"/>
            <a:r>
              <a:rPr lang="ru-RU" sz="1600" b="1" dirty="0" smtClean="0"/>
              <a:t>Автоматическая </a:t>
            </a:r>
            <a:r>
              <a:rPr lang="ru-RU" sz="1600" b="1" dirty="0"/>
              <a:t>генерация.</a:t>
            </a:r>
            <a:r>
              <a:rPr lang="ru-RU" sz="1600" dirty="0"/>
              <a:t> Всё, что можно сгенерировать из кода, конфигурации или инфраструктуры, — генерируется автоматически.</a:t>
            </a:r>
          </a:p>
          <a:p>
            <a:pPr algn="just"/>
            <a:endParaRPr lang="ru-RU" sz="1600" b="1" dirty="0" smtClean="0"/>
          </a:p>
          <a:p>
            <a:pPr algn="just"/>
            <a:r>
              <a:rPr lang="ru-RU" sz="1600" b="1" dirty="0" smtClean="0"/>
              <a:t>Минимальная </a:t>
            </a:r>
            <a:r>
              <a:rPr lang="ru-RU" sz="1600" b="1" dirty="0"/>
              <a:t>достаточность.</a:t>
            </a:r>
            <a:r>
              <a:rPr lang="ru-RU" sz="1600" dirty="0"/>
              <a:t> Документируется то, что нельзя понять из самого кода: </a:t>
            </a:r>
            <a:r>
              <a:rPr lang="ru-RU" sz="1600" i="1" dirty="0"/>
              <a:t>почему</a:t>
            </a:r>
            <a:r>
              <a:rPr lang="ru-RU" sz="1600" dirty="0"/>
              <a:t> принято решение, </a:t>
            </a:r>
            <a:r>
              <a:rPr lang="ru-RU" sz="1600" i="1" dirty="0"/>
              <a:t>какие ограничения</a:t>
            </a:r>
            <a:r>
              <a:rPr lang="ru-RU" sz="1600" dirty="0"/>
              <a:t> существуют, </a:t>
            </a:r>
            <a:r>
              <a:rPr lang="ru-RU" sz="1600" i="1" dirty="0"/>
              <a:t>как</a:t>
            </a:r>
            <a:r>
              <a:rPr lang="ru-RU" sz="1600" dirty="0"/>
              <a:t> компоненты взаимодействуют.</a:t>
            </a:r>
          </a:p>
          <a:p>
            <a:pPr algn="just"/>
            <a:endParaRPr lang="ru-RU" sz="1600" b="1" dirty="0" smtClean="0"/>
          </a:p>
          <a:p>
            <a:pPr algn="just"/>
            <a:r>
              <a:rPr lang="ru-RU" sz="1600" b="1" dirty="0" smtClean="0"/>
              <a:t>Актуальность</a:t>
            </a:r>
            <a:r>
              <a:rPr lang="ru-RU" sz="1600" b="1" dirty="0"/>
              <a:t>.</a:t>
            </a:r>
            <a:r>
              <a:rPr lang="ru-RU" sz="1600" dirty="0"/>
              <a:t> Документация обновляется в том же </a:t>
            </a:r>
            <a:r>
              <a:rPr lang="ru-RU" sz="1600" dirty="0" err="1"/>
              <a:t>pull</a:t>
            </a:r>
            <a:r>
              <a:rPr lang="ru-RU" sz="1600" dirty="0"/>
              <a:t>/</a:t>
            </a:r>
            <a:r>
              <a:rPr lang="ru-RU" sz="1600" dirty="0" err="1"/>
              <a:t>merge</a:t>
            </a:r>
            <a:r>
              <a:rPr lang="ru-RU" sz="1600" dirty="0"/>
              <a:t> </a:t>
            </a:r>
            <a:r>
              <a:rPr lang="ru-RU" sz="1600" dirty="0" err="1"/>
              <a:t>request</a:t>
            </a:r>
            <a:r>
              <a:rPr lang="ru-RU" sz="1600" dirty="0"/>
              <a:t>, что и код. Устаревшая документация хуже её отсутствия.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107504" y="915566"/>
            <a:ext cx="88569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Сформулируем базовые принципы, на которых строится вся система документации</a:t>
            </a:r>
            <a:r>
              <a:rPr lang="ru-RU" sz="1600" dirty="0" smtClean="0"/>
              <a:t>: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32792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latin typeface="Verdana" pitchFamily="34" charset="0"/>
                <a:ea typeface="Verdana" pitchFamily="34" charset="0"/>
              </a:rPr>
              <a:t>Сценарии формирования документации</a:t>
            </a:r>
            <a:endParaRPr lang="en-US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07504" y="987574"/>
            <a:ext cx="8928992" cy="38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400" dirty="0"/>
              <a:t>Документация формируется на каждом этапе жизненного цикла системы:</a:t>
            </a:r>
            <a:endParaRPr lang="ru-RU" sz="1400" dirty="0">
              <a:solidFill>
                <a:srgbClr val="FF0000"/>
              </a:solidFill>
            </a:endParaRP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8648604"/>
              </p:ext>
            </p:extLst>
          </p:nvPr>
        </p:nvGraphicFramePr>
        <p:xfrm>
          <a:off x="179511" y="1635646"/>
          <a:ext cx="8712969" cy="30246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232249"/>
                <a:gridCol w="3744416"/>
                <a:gridCol w="2736304"/>
              </a:tblGrid>
              <a:tr h="198170">
                <a:tc>
                  <a:txBody>
                    <a:bodyPr/>
                    <a:lstStyle/>
                    <a:p>
                      <a:pPr algn="l" rtl="0"/>
                      <a:r>
                        <a:rPr lang="ru-RU" sz="1400" b="1" dirty="0"/>
                        <a:t>Этап жизненного цикла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b="1" dirty="0"/>
                        <a:t>Вид документации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b="1" dirty="0"/>
                        <a:t>Ответственный</a:t>
                      </a:r>
                    </a:p>
                  </a:txBody>
                  <a:tcPr marL="58519" marR="58519" marT="29259" marB="29259" anchor="ctr"/>
                </a:tc>
              </a:tr>
              <a:tr h="336276"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Проектирование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/>
                        <a:t>RFC, ADR, </a:t>
                      </a:r>
                      <a:r>
                        <a:rPr lang="ru-RU" sz="1400" dirty="0"/>
                        <a:t>диаграммы архитектуры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Архитектор, </a:t>
                      </a:r>
                      <a:r>
                        <a:rPr lang="ru-RU" sz="1400" dirty="0" err="1"/>
                        <a:t>тимлид</a:t>
                      </a:r>
                      <a:endParaRPr lang="ru-RU" sz="1400" dirty="0"/>
                    </a:p>
                  </a:txBody>
                  <a:tcPr marL="58519" marR="58519" marT="29259" marB="29259" anchor="ctr"/>
                </a:tc>
              </a:tr>
              <a:tr h="480394"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Разработка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README сервиса, API-спецификация, </a:t>
                      </a:r>
                      <a:r>
                        <a:rPr lang="ru-RU" sz="1400" dirty="0" err="1"/>
                        <a:t>гайд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контрибьютора</a:t>
                      </a:r>
                      <a:endParaRPr lang="ru-RU" sz="1400" dirty="0"/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Команда сервиса</a:t>
                      </a:r>
                    </a:p>
                  </a:txBody>
                  <a:tcPr marL="58519" marR="58519" marT="29259" marB="29259" anchor="ctr"/>
                </a:tc>
              </a:tr>
              <a:tr h="480394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Тестирование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Описание тестовых сценариев, матрица совместимости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QA / </a:t>
                      </a:r>
                      <a:r>
                        <a:rPr lang="ru-RU" sz="1400"/>
                        <a:t>разработчики</a:t>
                      </a:r>
                    </a:p>
                  </a:txBody>
                  <a:tcPr marL="58519" marR="58519" marT="29259" marB="29259" anchor="ctr"/>
                </a:tc>
              </a:tr>
              <a:tr h="348301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Развёртывание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Инструкции по </a:t>
                      </a:r>
                      <a:r>
                        <a:rPr lang="ru-RU" sz="1400" dirty="0" err="1"/>
                        <a:t>деплою</a:t>
                      </a:r>
                      <a:r>
                        <a:rPr lang="ru-RU" sz="1400" dirty="0"/>
                        <a:t>, конфигурации окружений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DevOps / SRE</a:t>
                      </a:r>
                    </a:p>
                  </a:txBody>
                  <a:tcPr marL="58519" marR="58519" marT="29259" marB="29259" anchor="ctr"/>
                </a:tc>
              </a:tr>
              <a:tr h="624513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Эксплуатация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 err="1"/>
                        <a:t>Runbook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дашборды</a:t>
                      </a:r>
                      <a:r>
                        <a:rPr lang="ru-RU" sz="1400" dirty="0"/>
                        <a:t>, </a:t>
                      </a:r>
                      <a:r>
                        <a:rPr lang="ru-RU" sz="1400" dirty="0" err="1"/>
                        <a:t>алерт</a:t>
                      </a:r>
                      <a:r>
                        <a:rPr lang="ru-RU" sz="1400" dirty="0"/>
                        <a:t>-правила, процедуры восстановления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/>
                        <a:t>SRE / </a:t>
                      </a:r>
                      <a:r>
                        <a:rPr lang="ru-RU" sz="1400" dirty="0"/>
                        <a:t>поддержка</a:t>
                      </a:r>
                    </a:p>
                  </a:txBody>
                  <a:tcPr marL="58519" marR="58519" marT="29259" marB="29259" anchor="ctr"/>
                </a:tc>
              </a:tr>
              <a:tr h="336276"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Вывод из эксплуатации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План декомиссии, миграции данных</a:t>
                      </a:r>
                    </a:p>
                  </a:txBody>
                  <a:tcPr marL="58519" marR="58519" marT="29259" marB="29259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Архитектор, команда сервиса</a:t>
                      </a:r>
                    </a:p>
                  </a:txBody>
                  <a:tcPr marL="58519" marR="58519" marT="29259" marB="29259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7306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b="1" dirty="0"/>
              <a:t>Модель «четырёх типов документации»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5496" y="915566"/>
            <a:ext cx="8928992" cy="792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1600" dirty="0"/>
              <a:t>Современный подход к структурированию документации, предложенный Даниэле </a:t>
            </a:r>
            <a:r>
              <a:rPr lang="ru-RU" sz="1600" dirty="0" err="1"/>
              <a:t>Прокки</a:t>
            </a:r>
            <a:r>
              <a:rPr lang="ru-RU" sz="1600" dirty="0"/>
              <a:t>, выделяет четыре квадранта:</a:t>
            </a:r>
            <a:endParaRPr lang="ru-RU" sz="1400" dirty="0"/>
          </a:p>
        </p:txBody>
      </p:sp>
      <p:pic>
        <p:nvPicPr>
          <p:cNvPr id="3074" name="Picture 2" descr="https://habrastorage.org/r/w1560/getpro/habr/upload_files/eea/37d/eaa/eea37deaa22dc9e9815e0cde1f69cbbe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1660" y="1708347"/>
            <a:ext cx="5976664" cy="3362860"/>
          </a:xfrm>
          <a:prstGeom prst="roundRect">
            <a:avLst>
              <a:gd name="adj" fmla="val 2528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6574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b="1" dirty="0"/>
              <a:t>Модель «четырёх типов документации»</a:t>
            </a:r>
            <a:endParaRPr lang="en-US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3240" y="1419622"/>
            <a:ext cx="8928992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Tutorials</a:t>
            </a:r>
            <a:r>
              <a:rPr lang="ru-RU" b="1" dirty="0"/>
              <a:t>:</a:t>
            </a:r>
            <a:r>
              <a:rPr lang="ru-RU" dirty="0"/>
              <a:t> «Как развернуть и запустить </a:t>
            </a:r>
            <a:r>
              <a:rPr lang="ru-RU" dirty="0" err="1"/>
              <a:t>демо</a:t>
            </a:r>
            <a:r>
              <a:rPr lang="ru-RU" dirty="0"/>
              <a:t>-проект с тремя </a:t>
            </a:r>
            <a:r>
              <a:rPr lang="ru-RU" dirty="0" err="1"/>
              <a:t>микросервисами</a:t>
            </a:r>
            <a:r>
              <a:rPr lang="ru-RU" dirty="0"/>
              <a:t> за 30 минут</a:t>
            </a:r>
            <a:r>
              <a:rPr lang="ru-RU" dirty="0" smtClean="0"/>
              <a:t>».</a:t>
            </a:r>
          </a:p>
          <a:p>
            <a:endParaRPr lang="ru-RU" dirty="0"/>
          </a:p>
          <a:p>
            <a:r>
              <a:rPr lang="ru-RU" b="1" dirty="0" err="1"/>
              <a:t>How-to</a:t>
            </a:r>
            <a:r>
              <a:rPr lang="ru-RU" b="1" dirty="0"/>
              <a:t> </a:t>
            </a:r>
            <a:r>
              <a:rPr lang="ru-RU" b="1" dirty="0" err="1"/>
              <a:t>guides</a:t>
            </a:r>
            <a:r>
              <a:rPr lang="ru-RU" b="1" dirty="0"/>
              <a:t>:</a:t>
            </a:r>
            <a:r>
              <a:rPr lang="ru-RU" dirty="0"/>
              <a:t> «Как добавить новый </a:t>
            </a:r>
            <a:r>
              <a:rPr lang="ru-RU" dirty="0" err="1"/>
              <a:t>эндпоинт</a:t>
            </a:r>
            <a:r>
              <a:rPr lang="ru-RU" dirty="0"/>
              <a:t> в сервис заказов», «Как настроить </a:t>
            </a:r>
            <a:r>
              <a:rPr lang="ru-RU" dirty="0" err="1"/>
              <a:t>ретраи</a:t>
            </a:r>
            <a:r>
              <a:rPr lang="ru-RU" dirty="0"/>
              <a:t> при вызове платёжного сервиса</a:t>
            </a:r>
            <a:r>
              <a:rPr lang="ru-RU" dirty="0" smtClean="0"/>
              <a:t>».</a:t>
            </a:r>
          </a:p>
          <a:p>
            <a:endParaRPr lang="ru-RU" dirty="0"/>
          </a:p>
          <a:p>
            <a:r>
              <a:rPr lang="ru-RU" b="1" dirty="0" err="1"/>
              <a:t>Explanation</a:t>
            </a:r>
            <a:r>
              <a:rPr lang="ru-RU" b="1" dirty="0"/>
              <a:t>:</a:t>
            </a:r>
            <a:r>
              <a:rPr lang="ru-RU" dirty="0"/>
              <a:t> «Почему мы выбрали событийно-ориентированную модель вместо синхронных вызовов», «Как работает паттерн </a:t>
            </a:r>
            <a:r>
              <a:rPr lang="ru-RU" dirty="0" err="1"/>
              <a:t>Saga</a:t>
            </a:r>
            <a:r>
              <a:rPr lang="ru-RU" dirty="0"/>
              <a:t> в нашей системе</a:t>
            </a:r>
            <a:r>
              <a:rPr lang="ru-RU" dirty="0" smtClean="0"/>
              <a:t>».</a:t>
            </a:r>
          </a:p>
          <a:p>
            <a:endParaRPr lang="ru-RU" dirty="0"/>
          </a:p>
          <a:p>
            <a:r>
              <a:rPr lang="ru-RU" b="1" dirty="0" err="1"/>
              <a:t>Reference</a:t>
            </a:r>
            <a:r>
              <a:rPr lang="ru-RU" b="1" dirty="0"/>
              <a:t>:</a:t>
            </a:r>
            <a:r>
              <a:rPr lang="ru-RU" dirty="0"/>
              <a:t> Спецификация </a:t>
            </a:r>
            <a:r>
              <a:rPr lang="ru-RU" dirty="0" err="1"/>
              <a:t>OpenAPI</a:t>
            </a:r>
            <a:r>
              <a:rPr lang="ru-RU" dirty="0"/>
              <a:t> для каждого сервиса, схема сообщений в брокере, таблица конфигурационных параметров.</a:t>
            </a:r>
          </a:p>
        </p:txBody>
      </p:sp>
    </p:spTree>
    <p:extLst>
      <p:ext uri="{BB962C8B-B14F-4D97-AF65-F5344CB8AC3E}">
        <p14:creationId xmlns:p14="http://schemas.microsoft.com/office/powerpoint/2010/main" val="1081364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b="1" dirty="0"/>
              <a:t>Сценарии инициации документации</a:t>
            </a:r>
            <a:endParaRPr lang="en-US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3240" y="987574"/>
            <a:ext cx="892899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Документация создаётся не «на всякий случай», а в ответ на конкретные события</a:t>
            </a:r>
            <a:r>
              <a:rPr lang="ru-RU" sz="1600" dirty="0" smtClean="0"/>
              <a:t>:</a:t>
            </a:r>
          </a:p>
          <a:p>
            <a:endParaRPr lang="ru-RU" sz="1600" dirty="0"/>
          </a:p>
          <a:p>
            <a:r>
              <a:rPr lang="ru-RU" sz="1600" b="1" dirty="0"/>
              <a:t>Создание нового сервиса</a:t>
            </a:r>
            <a:r>
              <a:rPr lang="ru-RU" sz="1600" dirty="0"/>
              <a:t> → обязательный набор: README, API-контракт, схема зависимостей</a:t>
            </a:r>
            <a:r>
              <a:rPr lang="ru-RU" sz="1600" dirty="0" smtClean="0"/>
              <a:t>.</a:t>
            </a:r>
          </a:p>
          <a:p>
            <a:endParaRPr lang="ru-RU" sz="1600" dirty="0"/>
          </a:p>
          <a:p>
            <a:r>
              <a:rPr lang="ru-RU" sz="1600" b="1" dirty="0"/>
              <a:t>Изменение контракта</a:t>
            </a:r>
            <a:r>
              <a:rPr lang="ru-RU" sz="1600" dirty="0"/>
              <a:t> (</a:t>
            </a:r>
            <a:r>
              <a:rPr lang="ru-RU" sz="1600" dirty="0" err="1"/>
              <a:t>breaking</a:t>
            </a:r>
            <a:r>
              <a:rPr lang="ru-RU" sz="1600" dirty="0"/>
              <a:t> </a:t>
            </a:r>
            <a:r>
              <a:rPr lang="ru-RU" sz="1600" dirty="0" err="1"/>
              <a:t>change</a:t>
            </a:r>
            <a:r>
              <a:rPr lang="ru-RU" sz="1600" dirty="0"/>
              <a:t>) → обновление спецификации, уведомление потребителей, </a:t>
            </a:r>
            <a:r>
              <a:rPr lang="ru-RU" sz="1600" dirty="0" err="1"/>
              <a:t>changelog</a:t>
            </a:r>
            <a:r>
              <a:rPr lang="ru-RU" sz="1600" dirty="0" smtClean="0"/>
              <a:t>.</a:t>
            </a:r>
          </a:p>
          <a:p>
            <a:endParaRPr lang="ru-RU" sz="1600" dirty="0"/>
          </a:p>
          <a:p>
            <a:r>
              <a:rPr lang="ru-RU" sz="1600" b="1" dirty="0"/>
              <a:t>Архитектурное решение</a:t>
            </a:r>
            <a:r>
              <a:rPr lang="ru-RU" sz="1600" dirty="0"/>
              <a:t> → запись ADR</a:t>
            </a:r>
            <a:r>
              <a:rPr lang="ru-RU" sz="1600" dirty="0" smtClean="0"/>
              <a:t>.</a:t>
            </a:r>
          </a:p>
          <a:p>
            <a:endParaRPr lang="ru-RU" sz="1600" dirty="0"/>
          </a:p>
          <a:p>
            <a:r>
              <a:rPr lang="ru-RU" sz="1600" b="1" dirty="0"/>
              <a:t>Инцидент в эксплуатации</a:t>
            </a:r>
            <a:r>
              <a:rPr lang="ru-RU" sz="1600" dirty="0"/>
              <a:t> → обновление </a:t>
            </a:r>
            <a:r>
              <a:rPr lang="ru-RU" sz="1600" dirty="0" err="1"/>
              <a:t>Runbook</a:t>
            </a:r>
            <a:r>
              <a:rPr lang="ru-RU" sz="1600" dirty="0"/>
              <a:t>, </a:t>
            </a:r>
            <a:r>
              <a:rPr lang="ru-RU" sz="1600" dirty="0" err="1"/>
              <a:t>post-mortem</a:t>
            </a:r>
            <a:r>
              <a:rPr lang="ru-RU" sz="1600" dirty="0" smtClean="0"/>
              <a:t>.</a:t>
            </a:r>
          </a:p>
          <a:p>
            <a:endParaRPr lang="ru-RU" sz="1600" dirty="0"/>
          </a:p>
          <a:p>
            <a:r>
              <a:rPr lang="ru-RU" sz="1600" b="1" dirty="0" err="1"/>
              <a:t>Онбординг</a:t>
            </a:r>
            <a:r>
              <a:rPr lang="ru-RU" sz="1600" b="1" dirty="0"/>
              <a:t> нового члена команды</a:t>
            </a:r>
            <a:r>
              <a:rPr lang="ru-RU" sz="1600" dirty="0"/>
              <a:t> → актуализация </a:t>
            </a:r>
            <a:r>
              <a:rPr lang="ru-RU" sz="1600" dirty="0" err="1"/>
              <a:t>гайдов</a:t>
            </a:r>
            <a:r>
              <a:rPr lang="ru-RU" sz="1600" dirty="0"/>
              <a:t> и учебных материалов</a:t>
            </a:r>
            <a:r>
              <a:rPr lang="ru-RU" sz="1600" dirty="0" smtClean="0"/>
              <a:t>.</a:t>
            </a:r>
          </a:p>
          <a:p>
            <a:endParaRPr lang="ru-RU" sz="1600" dirty="0"/>
          </a:p>
          <a:p>
            <a:r>
              <a:rPr lang="ru-RU" sz="1600" b="1" dirty="0"/>
              <a:t>Подготовка к аудиту / </a:t>
            </a:r>
            <a:r>
              <a:rPr lang="ru-RU" sz="1600" b="1" dirty="0" err="1"/>
              <a:t>комплаенс</a:t>
            </a:r>
            <a:r>
              <a:rPr lang="ru-RU" sz="1600" dirty="0"/>
              <a:t> → формализация политик безопасности, </a:t>
            </a:r>
            <a:r>
              <a:rPr lang="ru-RU" sz="1600" dirty="0" err="1"/>
              <a:t>логирования</a:t>
            </a:r>
            <a:r>
              <a:rPr lang="ru-RU" sz="1600" dirty="0"/>
              <a:t>, обработки данных</a:t>
            </a:r>
            <a:r>
              <a:rPr lang="ru-RU" sz="1600" dirty="0" smtClean="0"/>
              <a:t>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48830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b="1" dirty="0"/>
              <a:t>Диаграммы и визуальная документация</a:t>
            </a:r>
            <a:endParaRPr lang="en-US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3240" y="987574"/>
            <a:ext cx="89289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Для описания архитектуры МСА рекомендуется использовать модель </a:t>
            </a:r>
            <a:r>
              <a:rPr lang="ru-RU" sz="1600" b="1" dirty="0"/>
              <a:t>C4</a:t>
            </a:r>
            <a:r>
              <a:rPr lang="ru-RU" sz="1600" dirty="0"/>
              <a:t> (</a:t>
            </a:r>
            <a:r>
              <a:rPr lang="ru-RU" sz="1600" dirty="0" err="1"/>
              <a:t>Simon</a:t>
            </a:r>
            <a:r>
              <a:rPr lang="ru-RU" sz="1600" dirty="0"/>
              <a:t> </a:t>
            </a:r>
            <a:r>
              <a:rPr lang="ru-RU" sz="1600" dirty="0" err="1"/>
              <a:t>Brown</a:t>
            </a:r>
            <a:r>
              <a:rPr lang="ru-RU" sz="1600" dirty="0"/>
              <a:t>), включающую четыре уровня детализации</a:t>
            </a:r>
            <a:r>
              <a:rPr lang="ru-RU" sz="1600" dirty="0" smtClean="0"/>
              <a:t>:</a:t>
            </a:r>
            <a:endParaRPr lang="ru-RU" sz="16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99756"/>
              </p:ext>
            </p:extLst>
          </p:nvPr>
        </p:nvGraphicFramePr>
        <p:xfrm>
          <a:off x="221250" y="1851670"/>
          <a:ext cx="8712972" cy="25202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58360"/>
                <a:gridCol w="1440160"/>
                <a:gridCol w="3456384"/>
                <a:gridCol w="2958068"/>
              </a:tblGrid>
              <a:tr h="242434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Уровень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Название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Что показывает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Пример для МСА</a:t>
                      </a:r>
                    </a:p>
                  </a:txBody>
                  <a:tcPr marL="60608" marR="60608" marT="30304" marB="30304" anchor="ctr"/>
                </a:tc>
              </a:tr>
              <a:tr h="590128">
                <a:tc>
                  <a:txBody>
                    <a:bodyPr/>
                    <a:lstStyle/>
                    <a:p>
                      <a:pPr algn="l"/>
                      <a:r>
                        <a:rPr lang="ru-RU" sz="1400"/>
                        <a:t>1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Context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Систему как единое целое и внешних акторов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«Интернет-магазин» + пользователи, платёжные системы</a:t>
                      </a:r>
                    </a:p>
                  </a:txBody>
                  <a:tcPr marL="60608" marR="60608" marT="30304" marB="30304" anchor="ctr"/>
                </a:tc>
              </a:tr>
              <a:tr h="576064">
                <a:tc>
                  <a:txBody>
                    <a:bodyPr/>
                    <a:lstStyle/>
                    <a:p>
                      <a:pPr algn="l"/>
                      <a:r>
                        <a:rPr lang="ru-RU" sz="1400"/>
                        <a:t>2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Container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Крупные блоки внутри системы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Сервисы, БД, брокер сообщений, API Gateway</a:t>
                      </a:r>
                    </a:p>
                  </a:txBody>
                  <a:tcPr marL="60608" marR="60608" marT="30304" marB="30304" anchor="ctr"/>
                </a:tc>
              </a:tr>
              <a:tr h="504056">
                <a:tc>
                  <a:txBody>
                    <a:bodyPr/>
                    <a:lstStyle/>
                    <a:p>
                      <a:pPr algn="l"/>
                      <a:r>
                        <a:rPr lang="ru-RU" sz="1400"/>
                        <a:t>3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Component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Внутренние компоненты одного контейнера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Модули внутри </a:t>
                      </a:r>
                      <a:r>
                        <a:rPr lang="en-US" sz="1400"/>
                        <a:t>order-service</a:t>
                      </a:r>
                    </a:p>
                  </a:txBody>
                  <a:tcPr marL="60608" marR="60608" marT="30304" marB="30304" anchor="ctr"/>
                </a:tc>
              </a:tr>
              <a:tr h="576064">
                <a:tc>
                  <a:txBody>
                    <a:bodyPr/>
                    <a:lstStyle/>
                    <a:p>
                      <a:pPr algn="l"/>
                      <a:r>
                        <a:rPr lang="ru-RU" sz="1400"/>
                        <a:t>4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Code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Диаграммы классов / последовательностей</a:t>
                      </a:r>
                    </a:p>
                  </a:txBody>
                  <a:tcPr marL="60608" marR="60608" marT="30304" marB="30304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Детальная логика конкретного модуля</a:t>
                      </a:r>
                    </a:p>
                  </a:txBody>
                  <a:tcPr marL="60608" marR="60608" marT="30304" marB="30304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0719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b="1" dirty="0"/>
              <a:t>Диаграммы и визуальная документация</a:t>
            </a:r>
            <a:endParaRPr lang="en-US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13240" y="987574"/>
            <a:ext cx="89289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Для описания архитектуры МСА рекомендуется использовать модель </a:t>
            </a:r>
            <a:r>
              <a:rPr lang="ru-RU" sz="1600" b="1" dirty="0"/>
              <a:t>C4</a:t>
            </a:r>
            <a:r>
              <a:rPr lang="ru-RU" sz="1600" dirty="0"/>
              <a:t> (</a:t>
            </a:r>
            <a:r>
              <a:rPr lang="ru-RU" sz="1600" dirty="0" err="1"/>
              <a:t>Simon</a:t>
            </a:r>
            <a:r>
              <a:rPr lang="ru-RU" sz="1600" dirty="0"/>
              <a:t> </a:t>
            </a:r>
            <a:r>
              <a:rPr lang="ru-RU" sz="1600" dirty="0" err="1"/>
              <a:t>Brown</a:t>
            </a:r>
            <a:r>
              <a:rPr lang="ru-RU" sz="1600" dirty="0"/>
              <a:t>), включающую четыре уровня детализации</a:t>
            </a:r>
            <a:r>
              <a:rPr lang="ru-RU" sz="1600" dirty="0" smtClean="0"/>
              <a:t>:</a:t>
            </a:r>
            <a:endParaRPr lang="ru-RU" sz="16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13240" y="2139702"/>
            <a:ext cx="856895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Для МСА наиболее востребованы уровни </a:t>
            </a:r>
            <a:r>
              <a:rPr lang="ru-RU" sz="1600" b="1" dirty="0"/>
              <a:t>1 и 2</a:t>
            </a:r>
            <a:r>
              <a:rPr lang="ru-RU" sz="1600" dirty="0"/>
              <a:t>. </a:t>
            </a:r>
            <a:endParaRPr lang="ru-RU" sz="1600" dirty="0" smtClean="0"/>
          </a:p>
          <a:p>
            <a:endParaRPr lang="ru-RU" sz="1600" dirty="0"/>
          </a:p>
          <a:p>
            <a:r>
              <a:rPr lang="ru-RU" sz="1600" dirty="0" smtClean="0"/>
              <a:t>Диаграммы </a:t>
            </a:r>
            <a:r>
              <a:rPr lang="ru-RU" sz="1600" dirty="0"/>
              <a:t>рекомендуется хранить в </a:t>
            </a:r>
            <a:r>
              <a:rPr lang="ru-RU" sz="1600" dirty="0" err="1"/>
              <a:t>репозитории</a:t>
            </a:r>
            <a:r>
              <a:rPr lang="ru-RU" sz="1600" dirty="0"/>
              <a:t> в текстовом формате:</a:t>
            </a:r>
          </a:p>
          <a:p>
            <a:r>
              <a:rPr lang="ru-RU" sz="1600" b="1" dirty="0" err="1"/>
              <a:t>PlantUML</a:t>
            </a:r>
            <a:r>
              <a:rPr lang="ru-RU" sz="1600" dirty="0"/>
              <a:t> / </a:t>
            </a:r>
            <a:r>
              <a:rPr lang="ru-RU" sz="1600" b="1" dirty="0" err="1"/>
              <a:t>Mermaid</a:t>
            </a:r>
            <a:r>
              <a:rPr lang="ru-RU" sz="1600" dirty="0"/>
              <a:t> — текстовое описание, рендеринг в CI;</a:t>
            </a:r>
          </a:p>
          <a:p>
            <a:r>
              <a:rPr lang="ru-RU" sz="1600" b="1" dirty="0" err="1"/>
              <a:t>Structurizr</a:t>
            </a:r>
            <a:r>
              <a:rPr lang="ru-RU" sz="1600" b="1" dirty="0"/>
              <a:t> DSL</a:t>
            </a:r>
            <a:r>
              <a:rPr lang="ru-RU" sz="1600" dirty="0"/>
              <a:t> — </a:t>
            </a:r>
            <a:r>
              <a:rPr lang="ru-RU" sz="1600" dirty="0" err="1"/>
              <a:t>нативная</a:t>
            </a:r>
            <a:r>
              <a:rPr lang="ru-RU" sz="1600" dirty="0"/>
              <a:t> поддержка модели C4;</a:t>
            </a:r>
          </a:p>
          <a:p>
            <a:r>
              <a:rPr lang="ru-RU" sz="1600" b="1" dirty="0"/>
              <a:t>Draw.io / </a:t>
            </a:r>
            <a:r>
              <a:rPr lang="ru-RU" sz="1600" b="1" dirty="0" err="1"/>
              <a:t>Excalidraw</a:t>
            </a:r>
            <a:r>
              <a:rPr lang="ru-RU" sz="1600" dirty="0"/>
              <a:t> — для неформальных набросков (экспорт в SVG/PNG).</a:t>
            </a:r>
          </a:p>
        </p:txBody>
      </p:sp>
    </p:spTree>
    <p:extLst>
      <p:ext uri="{BB962C8B-B14F-4D97-AF65-F5344CB8AC3E}">
        <p14:creationId xmlns:p14="http://schemas.microsoft.com/office/powerpoint/2010/main" val="3794877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b="1" dirty="0" smtClean="0"/>
              <a:t>  </a:t>
            </a:r>
            <a:r>
              <a:rPr lang="ru-RU" sz="2400" b="1" dirty="0"/>
              <a:t>Пример диаграммы </a:t>
            </a:r>
            <a:r>
              <a:rPr lang="ru-RU" sz="2400" b="1" dirty="0" err="1"/>
              <a:t>Container</a:t>
            </a:r>
            <a:r>
              <a:rPr lang="ru-RU" sz="2400" b="1" dirty="0"/>
              <a:t> уровня (</a:t>
            </a:r>
            <a:r>
              <a:rPr lang="ru-RU" sz="2400" b="1" dirty="0" err="1"/>
              <a:t>Mermaid</a:t>
            </a:r>
            <a:r>
              <a:rPr lang="ru-RU" sz="2400" b="1" dirty="0"/>
              <a:t>):</a:t>
            </a:r>
            <a:endParaRPr lang="ru-RU" sz="2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843558"/>
            <a:ext cx="5184576" cy="40988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97492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2704" y="1275606"/>
            <a:ext cx="878497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/>
              <a:t> Документирование бизнес-логики и </a:t>
            </a:r>
            <a:endParaRPr lang="ru-RU" sz="3200" b="1" dirty="0" smtClean="0"/>
          </a:p>
          <a:p>
            <a:r>
              <a:rPr lang="ru-RU" sz="3200" b="1" dirty="0" smtClean="0"/>
              <a:t>доменных </a:t>
            </a:r>
            <a:r>
              <a:rPr lang="ru-RU" sz="3200" b="1" dirty="0"/>
              <a:t>моделей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825822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dirty="0">
                <a:latin typeface="Verdana" pitchFamily="34" charset="0"/>
                <a:ea typeface="Verdana" pitchFamily="34" charset="0"/>
              </a:rPr>
              <a:t>Документирование бизнес-логики и доменных моделей</a:t>
            </a:r>
            <a:endParaRPr lang="ru-RU" sz="2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79512" y="1419622"/>
            <a:ext cx="878497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/>
              <a:t>Для каждого сервиса, реализующего сложную бизнес-логику, необходимо документировать:</a:t>
            </a:r>
          </a:p>
          <a:p>
            <a:pPr algn="just"/>
            <a:r>
              <a:rPr lang="ru-RU" b="1" dirty="0"/>
              <a:t>Границы ограниченного контекста (</a:t>
            </a:r>
            <a:r>
              <a:rPr lang="ru-RU" b="1" dirty="0" err="1"/>
              <a:t>Bounded</a:t>
            </a:r>
            <a:r>
              <a:rPr lang="ru-RU" b="1" dirty="0"/>
              <a:t> </a:t>
            </a:r>
            <a:r>
              <a:rPr lang="ru-RU" b="1" dirty="0" err="1"/>
              <a:t>Context</a:t>
            </a:r>
            <a:r>
              <a:rPr lang="ru-RU" b="1" dirty="0"/>
              <a:t>)</a:t>
            </a:r>
            <a:r>
              <a:rPr lang="ru-RU" dirty="0"/>
              <a:t> в терминах DDD;</a:t>
            </a:r>
          </a:p>
          <a:p>
            <a:pPr algn="just"/>
            <a:r>
              <a:rPr lang="ru-RU" b="1" dirty="0"/>
              <a:t>Доменную модель</a:t>
            </a:r>
            <a:r>
              <a:rPr lang="ru-RU" dirty="0"/>
              <a:t> — сущности, агрегаты, инварианты;</a:t>
            </a:r>
          </a:p>
          <a:p>
            <a:pPr algn="just"/>
            <a:r>
              <a:rPr lang="ru-RU" b="1" dirty="0"/>
              <a:t>Бизнес-правила</a:t>
            </a:r>
            <a:r>
              <a:rPr lang="ru-RU" dirty="0"/>
              <a:t> — валидации, переходы состояний (например, конечный автомат жизненного цикла заказа);</a:t>
            </a:r>
          </a:p>
          <a:p>
            <a:pPr algn="just"/>
            <a:r>
              <a:rPr lang="ru-RU" b="1" dirty="0"/>
              <a:t>Глоссарий</a:t>
            </a:r>
            <a:r>
              <a:rPr lang="ru-RU" dirty="0"/>
              <a:t> (</a:t>
            </a:r>
            <a:r>
              <a:rPr lang="ru-RU" dirty="0" err="1"/>
              <a:t>Ubiquitous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) — единый словарь терминов, чтобы разработчики, аналитики и менеджеры говорили на одном языке.</a:t>
            </a:r>
          </a:p>
        </p:txBody>
      </p:sp>
    </p:spTree>
    <p:extLst>
      <p:ext uri="{BB962C8B-B14F-4D97-AF65-F5344CB8AC3E}">
        <p14:creationId xmlns:p14="http://schemas.microsoft.com/office/powerpoint/2010/main" val="2581120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b="1" dirty="0"/>
              <a:t>Инструменты и стандарты</a:t>
            </a:r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265650"/>
              </p:ext>
            </p:extLst>
          </p:nvPr>
        </p:nvGraphicFramePr>
        <p:xfrm>
          <a:off x="179510" y="1062175"/>
          <a:ext cx="8712969" cy="365275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88234"/>
                <a:gridCol w="3528392"/>
                <a:gridCol w="3096343"/>
              </a:tblGrid>
              <a:tr h="215497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Категория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Инструменты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Назначение</a:t>
                      </a:r>
                    </a:p>
                  </a:txBody>
                  <a:tcPr marL="53874" marR="53874" marT="26937" marB="26937" anchor="ctr"/>
                </a:tc>
              </a:tr>
              <a:tr h="377119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Спецификации </a:t>
                      </a:r>
                      <a:r>
                        <a:rPr lang="en-US" sz="1400"/>
                        <a:t>API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OpenAPI 3.x, AsyncAPI, gRPC .proto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Контракты взаимодействия</a:t>
                      </a:r>
                    </a:p>
                  </a:txBody>
                  <a:tcPr marL="53874" marR="53874" marT="26937" marB="26937" anchor="ctr"/>
                </a:tc>
              </a:tr>
              <a:tr h="538742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Генерация документации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Swagger UI, Redoc, Stoplight, Scalar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Интерактивная документация из спецификаций</a:t>
                      </a:r>
                    </a:p>
                  </a:txBody>
                  <a:tcPr marL="53874" marR="53874" marT="26937" marB="26937" anchor="ctr"/>
                </a:tc>
              </a:tr>
              <a:tr h="377119"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Docs as Code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Markdown, AsciiDoc, reStructuredText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Написание документации в репозитории</a:t>
                      </a:r>
                    </a:p>
                  </a:txBody>
                  <a:tcPr marL="53874" marR="53874" marT="26937" marB="26937" anchor="ctr"/>
                </a:tc>
              </a:tr>
              <a:tr h="377119"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Статические генераторы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 dirty="0" err="1"/>
                        <a:t>MkDocs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Docusaurus</a:t>
                      </a:r>
                      <a:r>
                        <a:rPr lang="en-US" sz="1400" dirty="0"/>
                        <a:t>, Hugo, Sphinx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Публикация документации как сайта</a:t>
                      </a:r>
                    </a:p>
                  </a:txBody>
                  <a:tcPr marL="53874" marR="53874" marT="26937" marB="26937" anchor="ctr"/>
                </a:tc>
              </a:tr>
              <a:tr h="377119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Диаграммы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Mermaid, PlantUML, Structurizr, C4-PlantUML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Визуализация архитектуры</a:t>
                      </a:r>
                    </a:p>
                  </a:txBody>
                  <a:tcPr marL="53874" marR="53874" marT="26937" marB="26937" anchor="ctr"/>
                </a:tc>
              </a:tr>
              <a:tr h="377119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Управление документацией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Confluence, Notion, Wiki.js, GitBook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Централизованный портал документации</a:t>
                      </a:r>
                    </a:p>
                  </a:txBody>
                  <a:tcPr marL="53874" marR="53874" marT="26937" marB="26937" anchor="ctr"/>
                </a:tc>
              </a:tr>
              <a:tr h="377119"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ADR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adr-tools, Markdown </a:t>
                      </a:r>
                      <a:r>
                        <a:rPr lang="ru-RU" sz="1400"/>
                        <a:t>в /</a:t>
                      </a:r>
                      <a:r>
                        <a:rPr lang="en-US" sz="1400"/>
                        <a:t>docs/adr/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Фиксация архитектурных решений</a:t>
                      </a:r>
                    </a:p>
                  </a:txBody>
                  <a:tcPr marL="53874" marR="53874" marT="26937" marB="26937" anchor="ctr"/>
                </a:tc>
              </a:tr>
              <a:tr h="377119"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Changelog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en-US" sz="1400"/>
                        <a:t>Keep a Changelog, Conventional Commits</a:t>
                      </a:r>
                    </a:p>
                  </a:txBody>
                  <a:tcPr marL="53874" marR="53874" marT="26937" marB="26937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История изменений</a:t>
                      </a:r>
                    </a:p>
                  </a:txBody>
                  <a:tcPr marL="53874" marR="53874" marT="26937" marB="26937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945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b="1" dirty="0"/>
              <a:t>Лучшие практики и </a:t>
            </a:r>
            <a:r>
              <a:rPr lang="ru-RU" sz="2400" b="1" dirty="0" err="1"/>
              <a:t>антипаттерны</a:t>
            </a:r>
            <a:endParaRPr lang="ru-RU" sz="2400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07504" y="843558"/>
            <a:ext cx="89289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Лучшие практики</a:t>
            </a:r>
          </a:p>
          <a:p>
            <a:r>
              <a:rPr lang="ru-RU" b="1" dirty="0"/>
              <a:t>Владелец документации.</a:t>
            </a:r>
            <a:r>
              <a:rPr lang="ru-RU" dirty="0"/>
              <a:t> Каждый документ имеет конкретного владельца (команду или человека). «Ничейная» документация быстро устаревает.</a:t>
            </a:r>
          </a:p>
          <a:p>
            <a:r>
              <a:rPr lang="ru-RU" b="1" dirty="0"/>
              <a:t>Документация в </a:t>
            </a:r>
            <a:r>
              <a:rPr lang="ru-RU" b="1" dirty="0" err="1"/>
              <a:t>pull</a:t>
            </a:r>
            <a:r>
              <a:rPr lang="ru-RU" b="1" dirty="0"/>
              <a:t> </a:t>
            </a:r>
            <a:r>
              <a:rPr lang="ru-RU" b="1" dirty="0" err="1"/>
              <a:t>request</a:t>
            </a:r>
            <a:r>
              <a:rPr lang="ru-RU" b="1" dirty="0"/>
              <a:t>.</a:t>
            </a:r>
            <a:r>
              <a:rPr lang="ru-RU" dirty="0"/>
              <a:t> Изменение кода без обновления соответствующей документации не проходит код-</a:t>
            </a:r>
            <a:r>
              <a:rPr lang="ru-RU" dirty="0" err="1"/>
              <a:t>ревью</a:t>
            </a:r>
            <a:r>
              <a:rPr lang="ru-RU" dirty="0"/>
              <a:t>.</a:t>
            </a:r>
          </a:p>
          <a:p>
            <a:r>
              <a:rPr lang="ru-RU" b="1" dirty="0"/>
              <a:t>Единая точка входа.</a:t>
            </a:r>
            <a:r>
              <a:rPr lang="ru-RU" dirty="0"/>
              <a:t> Портал документации с поиском, где любой инженер может найти нужный документ за ≤ 2 минуты.</a:t>
            </a:r>
          </a:p>
          <a:p>
            <a:r>
              <a:rPr lang="ru-RU" b="1" dirty="0" err="1"/>
              <a:t>Шаблонизация</a:t>
            </a:r>
            <a:r>
              <a:rPr lang="ru-RU" b="1" dirty="0"/>
              <a:t>.</a:t>
            </a:r>
            <a:r>
              <a:rPr lang="ru-RU" dirty="0"/>
              <a:t> Единые шаблоны для README, ADR, </a:t>
            </a:r>
            <a:r>
              <a:rPr lang="ru-RU" dirty="0" err="1"/>
              <a:t>Runbook</a:t>
            </a:r>
            <a:r>
              <a:rPr lang="ru-RU" dirty="0"/>
              <a:t>, </a:t>
            </a:r>
            <a:r>
              <a:rPr lang="ru-RU" dirty="0" err="1"/>
              <a:t>Post-mortem</a:t>
            </a:r>
            <a:r>
              <a:rPr lang="ru-RU" dirty="0"/>
              <a:t> снижают когнитивную нагрузку.</a:t>
            </a:r>
          </a:p>
          <a:p>
            <a:r>
              <a:rPr lang="ru-RU" b="1" dirty="0"/>
              <a:t>Версионирование.</a:t>
            </a:r>
            <a:r>
              <a:rPr lang="ru-RU" dirty="0"/>
              <a:t> Документация </a:t>
            </a:r>
            <a:r>
              <a:rPr lang="ru-RU" dirty="0" err="1"/>
              <a:t>версионируется</a:t>
            </a:r>
            <a:r>
              <a:rPr lang="ru-RU" dirty="0"/>
              <a:t> вместе с релизами. Пользователь версии 1.4 видит документацию для 1.4.</a:t>
            </a:r>
          </a:p>
          <a:p>
            <a:r>
              <a:rPr lang="ru-RU" b="1" dirty="0"/>
              <a:t>Обратная связь.</a:t>
            </a:r>
            <a:r>
              <a:rPr lang="ru-RU" dirty="0"/>
              <a:t> Кнопка «Сообщить об ошибке в документации» на каждой странице.</a:t>
            </a:r>
          </a:p>
          <a:p>
            <a:r>
              <a:rPr lang="ru-RU" b="1" dirty="0"/>
              <a:t>Регулярный аудит.</a:t>
            </a:r>
            <a:r>
              <a:rPr lang="ru-RU" dirty="0"/>
              <a:t> Раз в квартал — ревизия документации: удаление устаревшего, обновление неточного.</a:t>
            </a:r>
          </a:p>
        </p:txBody>
      </p:sp>
    </p:spTree>
    <p:extLst>
      <p:ext uri="{BB962C8B-B14F-4D97-AF65-F5344CB8AC3E}">
        <p14:creationId xmlns:p14="http://schemas.microsoft.com/office/powerpoint/2010/main" val="31116960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1"/>
            <a:ext cx="9144001" cy="1102519"/>
          </a:xfrm>
        </p:spPr>
        <p:txBody>
          <a:bodyPr>
            <a:noAutofit/>
          </a:bodyPr>
          <a:lstStyle/>
          <a:p>
            <a:pPr algn="l"/>
            <a:r>
              <a:rPr lang="ru-RU" sz="2400" b="1" dirty="0"/>
              <a:t>Лучшие практики и </a:t>
            </a:r>
            <a:r>
              <a:rPr lang="ru-RU" sz="2400" b="1" dirty="0" err="1"/>
              <a:t>антипаттерны</a:t>
            </a:r>
            <a:endParaRPr lang="ru-RU" sz="2400" b="1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3771033"/>
              </p:ext>
            </p:extLst>
          </p:nvPr>
        </p:nvGraphicFramePr>
        <p:xfrm>
          <a:off x="179512" y="1193688"/>
          <a:ext cx="8712969" cy="353339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16224"/>
                <a:gridCol w="3384376"/>
                <a:gridCol w="3312369"/>
              </a:tblGrid>
              <a:tr h="222562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Антипаттерн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Описание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Последствие</a:t>
                      </a:r>
                    </a:p>
                  </a:txBody>
                  <a:tcPr marL="55641" marR="55641" marT="27820" marB="27820" anchor="ctr"/>
                </a:tc>
              </a:tr>
              <a:tr h="556406"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«Документация потом»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Документация откладывается на «после релиза»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Никогда не создаётся</a:t>
                      </a:r>
                    </a:p>
                  </a:txBody>
                  <a:tcPr marL="55641" marR="55641" marT="27820" marB="27820" anchor="ctr"/>
                </a:tc>
              </a:tr>
              <a:tr h="389484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«Всё в коде»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Считается, что код самодостаточен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Невозможно понять почему принято решение</a:t>
                      </a:r>
                    </a:p>
                  </a:txBody>
                  <a:tcPr marL="55641" marR="55641" marT="27820" marB="27820" anchor="ctr"/>
                </a:tc>
              </a:tr>
              <a:tr h="556406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«Один большой документ»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Вся система описана в одном файле на 500 страниц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Никто не читает, невозможно поддерживать</a:t>
                      </a:r>
                    </a:p>
                  </a:txBody>
                  <a:tcPr marL="55641" marR="55641" marT="27820" marB="27820" anchor="ctr"/>
                </a:tc>
              </a:tr>
              <a:tr h="556406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«Копирование»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Документация дублируется между сервисами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Рассинхронизация при обновлении</a:t>
                      </a:r>
                    </a:p>
                  </a:txBody>
                  <a:tcPr marL="55641" marR="55641" marT="27820" marB="27820" anchor="ctr"/>
                </a:tc>
              </a:tr>
              <a:tr h="556406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«Документация ради документации»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Формальное заполнение шаблонов без реального содержания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Потеря доверия к документации</a:t>
                      </a:r>
                    </a:p>
                  </a:txBody>
                  <a:tcPr marL="55641" marR="55641" marT="27820" marB="27820" anchor="ctr"/>
                </a:tc>
              </a:tr>
              <a:tr h="556406"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«Секретное знание»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/>
                        <a:t>Критичная информация хранится только в голове одного человека</a:t>
                      </a:r>
                    </a:p>
                  </a:txBody>
                  <a:tcPr marL="55641" marR="55641" marT="27820" marB="27820" anchor="ctr"/>
                </a:tc>
                <a:tc>
                  <a:txBody>
                    <a:bodyPr/>
                    <a:lstStyle/>
                    <a:p>
                      <a:pPr algn="l" rtl="0"/>
                      <a:r>
                        <a:rPr lang="ru-RU" sz="1400" dirty="0"/>
                        <a:t>Риск при уходе сотрудника (</a:t>
                      </a:r>
                      <a:r>
                        <a:rPr lang="ru-RU" sz="1400" dirty="0" err="1"/>
                        <a:t>bus</a:t>
                      </a:r>
                      <a:r>
                        <a:rPr lang="ru-RU" sz="1400" dirty="0"/>
                        <a:t> </a:t>
                      </a:r>
                      <a:r>
                        <a:rPr lang="ru-RU" sz="1400" dirty="0" err="1"/>
                        <a:t>factor</a:t>
                      </a:r>
                      <a:r>
                        <a:rPr lang="ru-RU" sz="1400" dirty="0"/>
                        <a:t> = 1)</a:t>
                      </a:r>
                    </a:p>
                  </a:txBody>
                  <a:tcPr marL="55641" marR="55641" marT="27820" marB="278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69589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2"/>
            <a:ext cx="9144001" cy="894138"/>
          </a:xfrm>
        </p:spPr>
        <p:txBody>
          <a:bodyPr>
            <a:noAutofit/>
          </a:bodyPr>
          <a:lstStyle/>
          <a:p>
            <a:pPr algn="l"/>
            <a:r>
              <a:rPr lang="ru-RU" sz="2400" b="1" dirty="0"/>
              <a:t>Ключевые выводы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4016" y="906269"/>
            <a:ext cx="8892480" cy="418576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1600" dirty="0"/>
              <a:t>В </a:t>
            </a:r>
            <a:r>
              <a:rPr lang="ru-RU" sz="1600" dirty="0" err="1"/>
              <a:t>микросервисной</a:t>
            </a:r>
            <a:r>
              <a:rPr lang="ru-RU" sz="1600" dirty="0"/>
              <a:t> архитектуре документация из вспомогательного артефакта превращается в критический элемент коммуникации между десятками команд и сервисов</a:t>
            </a:r>
            <a:r>
              <a:rPr lang="ru-RU" sz="1600" dirty="0" smtClean="0"/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ru-RU" sz="16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1600" dirty="0"/>
              <a:t>Документация должна создаваться по принципу </a:t>
            </a:r>
            <a:r>
              <a:rPr lang="ru-RU" sz="1600" dirty="0" err="1"/>
              <a:t>Docs</a:t>
            </a:r>
            <a:r>
              <a:rPr lang="ru-RU" sz="1600" dirty="0"/>
              <a:t> </a:t>
            </a:r>
            <a:r>
              <a:rPr lang="ru-RU" sz="1600" dirty="0" err="1"/>
              <a:t>as</a:t>
            </a:r>
            <a:r>
              <a:rPr lang="ru-RU" sz="1600" dirty="0"/>
              <a:t> </a:t>
            </a:r>
            <a:r>
              <a:rPr lang="ru-RU" sz="1600" dirty="0" err="1"/>
              <a:t>Code</a:t>
            </a:r>
            <a:r>
              <a:rPr lang="ru-RU" sz="1600" dirty="0"/>
              <a:t>: храниться в </a:t>
            </a:r>
            <a:r>
              <a:rPr lang="ru-RU" sz="1600" dirty="0" err="1"/>
              <a:t>репозитории</a:t>
            </a:r>
            <a:r>
              <a:rPr lang="ru-RU" sz="1600" dirty="0"/>
              <a:t>, </a:t>
            </a:r>
            <a:r>
              <a:rPr lang="ru-RU" sz="1600" dirty="0" err="1"/>
              <a:t>версионироваться</a:t>
            </a:r>
            <a:r>
              <a:rPr lang="ru-RU" sz="1600" dirty="0"/>
              <a:t>, проходить </a:t>
            </a:r>
            <a:r>
              <a:rPr lang="ru-RU" sz="1600" dirty="0" err="1"/>
              <a:t>ревью</a:t>
            </a:r>
            <a:r>
              <a:rPr lang="ru-RU" sz="1600" dirty="0"/>
              <a:t>, генерироваться автоматически</a:t>
            </a:r>
            <a:r>
              <a:rPr lang="ru-RU" sz="1600" dirty="0" smtClean="0"/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ru-RU" sz="16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1600" dirty="0"/>
              <a:t>Документация охватывает весь жизненный цикл: от проектирования (ADR, RFC) через разработку (API-контракты, README) до эксплуатации (</a:t>
            </a:r>
            <a:r>
              <a:rPr lang="ru-RU" sz="1600" dirty="0" err="1"/>
              <a:t>Runbook</a:t>
            </a:r>
            <a:r>
              <a:rPr lang="ru-RU" sz="1600" dirty="0"/>
              <a:t>, </a:t>
            </a:r>
            <a:r>
              <a:rPr lang="ru-RU" sz="1600" dirty="0" err="1"/>
              <a:t>Post-mortem</a:t>
            </a:r>
            <a:r>
              <a:rPr lang="ru-RU" sz="1600" dirty="0" smtClean="0"/>
              <a:t>).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ru-RU" sz="16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1600" dirty="0"/>
              <a:t>Для каждого типа взаимодействия выбирается стандарт спецификации: </a:t>
            </a:r>
            <a:r>
              <a:rPr lang="ru-RU" sz="1600" dirty="0" err="1" smtClean="0"/>
              <a:t>OpenAPI</a:t>
            </a:r>
            <a:r>
              <a:rPr lang="ru-RU" sz="1600" dirty="0" smtClean="0"/>
              <a:t> </a:t>
            </a:r>
            <a:r>
              <a:rPr lang="ru-RU" sz="1600" dirty="0"/>
              <a:t>для REST, </a:t>
            </a:r>
            <a:r>
              <a:rPr lang="ru-RU" sz="1600" dirty="0" err="1"/>
              <a:t>AsyncAPI</a:t>
            </a:r>
            <a:r>
              <a:rPr lang="ru-RU" sz="1600" dirty="0"/>
              <a:t> для событий, .</a:t>
            </a:r>
            <a:r>
              <a:rPr lang="ru-RU" sz="1600" dirty="0" err="1"/>
              <a:t>proto</a:t>
            </a:r>
            <a:r>
              <a:rPr lang="ru-RU" sz="1600" dirty="0"/>
              <a:t> для </a:t>
            </a:r>
            <a:r>
              <a:rPr lang="ru-RU" sz="1600" dirty="0" err="1"/>
              <a:t>gRPC</a:t>
            </a:r>
            <a:r>
              <a:rPr lang="ru-RU" sz="1600" dirty="0" smtClean="0"/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ru-RU" sz="16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1600" dirty="0"/>
              <a:t>Документация эксплуатации (</a:t>
            </a:r>
            <a:r>
              <a:rPr lang="ru-RU" sz="1600" dirty="0" err="1"/>
              <a:t>Runbook</a:t>
            </a:r>
            <a:r>
              <a:rPr lang="ru-RU" sz="1600" dirty="0"/>
              <a:t>, SLO, DR-план) напрямую влияет на время восстановления при инцидентах</a:t>
            </a:r>
            <a:r>
              <a:rPr lang="ru-RU" sz="1600" dirty="0" smtClean="0"/>
              <a:t>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ru-RU" sz="1600" dirty="0"/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sz="1600" dirty="0"/>
              <a:t>Автоматизация генерации и проверки документации снижает нагрузку на разработчиков и повышает актуальность</a:t>
            </a:r>
            <a:r>
              <a:rPr lang="ru-RU" sz="1600" dirty="0" smtClean="0"/>
              <a:t>.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1475753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-1" y="12132"/>
            <a:ext cx="9144001" cy="894138"/>
          </a:xfrm>
        </p:spPr>
        <p:txBody>
          <a:bodyPr>
            <a:noAutofit/>
          </a:bodyPr>
          <a:lstStyle/>
          <a:p>
            <a:pPr algn="l"/>
            <a:r>
              <a:rPr lang="ru-RU" sz="2400" b="1" dirty="0"/>
              <a:t>Контрольные вопросы 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44016" y="1029382"/>
            <a:ext cx="8892480" cy="39395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Чем принципиально отличается роль документации в МСА по сравнению с монолитной архитектурой</a:t>
            </a:r>
            <a:r>
              <a:rPr lang="ru-RU" sz="1600" dirty="0" smtClean="0"/>
              <a:t>?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Назовите четыре типа документации по модели </a:t>
            </a:r>
            <a:r>
              <a:rPr lang="ru-RU" sz="1600" dirty="0" err="1"/>
              <a:t>Diátaxis</a:t>
            </a:r>
            <a:r>
              <a:rPr lang="ru-RU" sz="1600" dirty="0"/>
              <a:t> и приведите пример каждого для МСА</a:t>
            </a:r>
            <a:r>
              <a:rPr lang="ru-RU" sz="1600" dirty="0" smtClean="0"/>
              <a:t>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Какие разделы обязательно должны присутствовать в README </a:t>
            </a:r>
            <a:r>
              <a:rPr lang="ru-RU" sz="1600" dirty="0" err="1"/>
              <a:t>микросервиса</a:t>
            </a:r>
            <a:r>
              <a:rPr lang="ru-RU" sz="1600" dirty="0" smtClean="0"/>
              <a:t>?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Чем отличается назначение спецификаций </a:t>
            </a:r>
            <a:r>
              <a:rPr lang="ru-RU" sz="1600" dirty="0" err="1"/>
              <a:t>OpenAPI</a:t>
            </a:r>
            <a:r>
              <a:rPr lang="ru-RU" sz="1600" dirty="0"/>
              <a:t> и </a:t>
            </a:r>
            <a:r>
              <a:rPr lang="ru-RU" sz="1600" dirty="0" err="1"/>
              <a:t>AsyncAPI</a:t>
            </a:r>
            <a:r>
              <a:rPr lang="ru-RU" sz="1600" dirty="0" smtClean="0"/>
              <a:t>?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Что такое ADR и зачем он нужен в </a:t>
            </a:r>
            <a:r>
              <a:rPr lang="ru-RU" sz="1600" dirty="0" err="1"/>
              <a:t>микросервисной</a:t>
            </a:r>
            <a:r>
              <a:rPr lang="ru-RU" sz="1600" dirty="0"/>
              <a:t> системе</a:t>
            </a:r>
            <a:r>
              <a:rPr lang="ru-RU" sz="1600" dirty="0" smtClean="0"/>
              <a:t>?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Какие три столпа наблюдаемости (</a:t>
            </a:r>
            <a:r>
              <a:rPr lang="ru-RU" sz="1600" dirty="0" err="1"/>
              <a:t>observability</a:t>
            </a:r>
            <a:r>
              <a:rPr lang="ru-RU" sz="1600" dirty="0"/>
              <a:t>) документируются для эксплуатации МСА</a:t>
            </a:r>
            <a:r>
              <a:rPr lang="ru-RU" sz="1600" dirty="0" smtClean="0"/>
              <a:t>?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Что такое </a:t>
            </a:r>
            <a:r>
              <a:rPr lang="ru-RU" sz="1600" dirty="0" err="1"/>
              <a:t>Runbook</a:t>
            </a:r>
            <a:r>
              <a:rPr lang="ru-RU" sz="1600" dirty="0"/>
              <a:t> и какую структуру он имеет</a:t>
            </a:r>
            <a:r>
              <a:rPr lang="ru-RU" sz="1600" dirty="0" smtClean="0"/>
              <a:t>?</a:t>
            </a:r>
          </a:p>
          <a:p>
            <a:pPr marL="342900" indent="-342900" algn="just">
              <a:buFont typeface="+mj-lt"/>
              <a:buAutoNum type="arabicPeriod"/>
            </a:pPr>
            <a:endParaRPr lang="ru-RU" sz="1600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/>
              <a:t>Почему документацию рекомендуется хранить в том же </a:t>
            </a:r>
            <a:r>
              <a:rPr lang="ru-RU" sz="1600" dirty="0" err="1"/>
              <a:t>репозитории</a:t>
            </a:r>
            <a:r>
              <a:rPr lang="ru-RU" sz="1600" dirty="0"/>
              <a:t>, что и код?</a:t>
            </a:r>
          </a:p>
        </p:txBody>
      </p:sp>
    </p:spTree>
    <p:extLst>
      <p:ext uri="{BB962C8B-B14F-4D97-AF65-F5344CB8AC3E}">
        <p14:creationId xmlns:p14="http://schemas.microsoft.com/office/powerpoint/2010/main" val="112574724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1441</TotalTime>
  <Words>1712</Words>
  <Application>Microsoft Office PowerPoint</Application>
  <PresentationFormat>Экран (16:9)</PresentationFormat>
  <Paragraphs>257</Paragraphs>
  <Slides>21</Slides>
  <Notes>21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2" baseType="lpstr">
      <vt:lpstr>Тема Office</vt:lpstr>
      <vt:lpstr>Документирование систем с микросервисной архитектурой</vt:lpstr>
      <vt:lpstr>Роль документации в МСА</vt:lpstr>
      <vt:lpstr> Почему документация в МСА критически важна</vt:lpstr>
      <vt:lpstr> Почему документация в МСА критически важна</vt:lpstr>
      <vt:lpstr> Почему документация в МСА критически важна</vt:lpstr>
      <vt:lpstr>Цена отсутствия документации</vt:lpstr>
      <vt:lpstr>Принципы документирования в МСА</vt:lpstr>
      <vt:lpstr>Сценарии формирования документации</vt:lpstr>
      <vt:lpstr>Модель «четырёх типов документации»</vt:lpstr>
      <vt:lpstr>Модель «четырёх типов документации»</vt:lpstr>
      <vt:lpstr>Сценарии инициации документации</vt:lpstr>
      <vt:lpstr>Диаграммы и визуальная документация</vt:lpstr>
      <vt:lpstr>Диаграммы и визуальная документация</vt:lpstr>
      <vt:lpstr>  Пример диаграммы Container уровня (Mermaid):</vt:lpstr>
      <vt:lpstr>Презентация PowerPoint</vt:lpstr>
      <vt:lpstr>Документирование бизнес-логики и доменных моделей</vt:lpstr>
      <vt:lpstr>Инструменты и стандарты</vt:lpstr>
      <vt:lpstr>Лучшие практики и антипаттерны</vt:lpstr>
      <vt:lpstr>Лучшие практики и антипаттерны</vt:lpstr>
      <vt:lpstr>Ключевые выводы</vt:lpstr>
      <vt:lpstr>Контрольные вопросы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Микросервисная архитектура</dc:title>
  <dc:creator>1</dc:creator>
  <cp:lastModifiedBy>1</cp:lastModifiedBy>
  <cp:revision>28</cp:revision>
  <dcterms:created xsi:type="dcterms:W3CDTF">2026-09-03T08:44:06Z</dcterms:created>
  <dcterms:modified xsi:type="dcterms:W3CDTF">2026-10-12T03:55:44Z</dcterms:modified>
</cp:coreProperties>
</file>